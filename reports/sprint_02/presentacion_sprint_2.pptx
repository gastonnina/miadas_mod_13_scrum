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16459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ED6F1"/>
                </a:solidFill>
              </a:rPr>
              <a:t>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2024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Pipeline de Clasificacion de Clientes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ED6F1"/>
                </a:solidFill>
              </a:rPr>
              <a:t>Proyecto MIADAS — Modulo 13 — Scrum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ED6F1"/>
                </a:solidFill>
              </a:rPr>
              <a:t>5 de junio de 2026  |  Rama: sprint-2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Dataset: Olist E-commerce Brasil  |  Target: is_premium (P80, umbral fijo = BRL 197.01)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Contexto y Objetivos del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Del notebook exploratorio al pipeline modular y reproducible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B"/>
                </a:solidFill>
              </a:rPr>
              <a:t>Sprint 1 — Punto de partida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4A4A"/>
                </a:solidFill>
              </a:rPr>
              <a:t>•  Analisis exploratorio sobre datos Olist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4A4A"/>
                </a:solidFill>
              </a:rPr>
              <a:t>•  Target is_premium definido: P80 gasto pedidos entregados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4A4A"/>
                </a:solidFill>
              </a:rPr>
              <a:t>•  Logica concentrada en notebooks (.ipynb)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4A4A"/>
                </a:solidFill>
              </a:rPr>
              <a:t>•  Baseline de referencia: ROC-AUC = 0.5355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4A4A"/>
                </a:solidFill>
              </a:rPr>
              <a:t>•  Fragilidad: reproduccion dependia del 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508760"/>
            <a:ext cx="5943600" cy="493776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ED6F1"/>
                </a:solidFill>
              </a:rPr>
              <a:t>Sprint 2 — 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Migrar logica a scripts independientes (src/)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Pipeline modular: master table → features → seleccion → evaluacion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Control explicito de leakage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Seleccion experimental de variables (8 experimentos)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Umbral P80 congelado sobre dev (197.01 BRL)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Mejorar metricas frente al baseline de S1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9 fases completadas — todos los entregables formales entregados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del Pipeline — 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4 capas funcionales con dependencias explicitas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2560320" cy="11887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1. Master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ED6F1"/>
                </a:solidFill>
              </a:rPr>
              <a:t>build_master_table.py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25603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raw → clean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profiling calidad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umbral P80 = 197.01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1" y="1965960"/>
            <a:ext cx="292607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59" y="1828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B4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508760"/>
            <a:ext cx="2560320" cy="11887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508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2. 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build_rfm_features.py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834640"/>
            <a:ext cx="25603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834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18 features nuevas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51 columnas totales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sin leakage del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25312" y="1965960"/>
            <a:ext cx="292607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19" y="1828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B4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08760"/>
            <a:ext cx="2560320" cy="1188720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508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3. Seleccion Experimental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feature_selection_experiments.py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834640"/>
            <a:ext cx="25603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2834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8 experimentos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Ganador: corr_le_0.85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28 features finales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5672" y="1965960"/>
            <a:ext cx="292607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828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B4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1508760"/>
            <a:ext cx="2560320" cy="1188720"/>
          </a:xfrm>
          <a:prstGeom prst="rect">
            <a:avLst/>
          </a:prstGeom>
          <a:solidFill>
            <a:srgbClr val="78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508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4. Evaluacion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evaluate_model.py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2834640"/>
            <a:ext cx="25603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19" y="28346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vs baseline S1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AUC-ROC = 0.7929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A4A4A"/>
                </a:solidFill>
              </a:rPr>
              <a:t>•  Gini = 0.5858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11292840" cy="8229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36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Notebook integrador: 02_pipeline_features.ipynb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Consume todos los artefactos — graficas, comparacion baseline, narrativa de defensa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Master Table y Definicion del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Fundamentos del pipeline: granularidad, calidad y umbral fijo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B"/>
                </a:solidFill>
              </a:rPr>
              <a:t>Master table — estadisticas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2834640" cy="3383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Clientes totales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11680"/>
            <a:ext cx="2194560" cy="33832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04825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96.096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23160"/>
            <a:ext cx="2834640" cy="3383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59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Filas raw (32 col.)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423160"/>
            <a:ext cx="2194560" cy="33832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4597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96.096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34640"/>
            <a:ext cx="2834640" cy="3383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71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Filas clean (33 col.)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834640"/>
            <a:ext cx="2194560" cy="33832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87121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96.096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46120"/>
            <a:ext cx="2834640" cy="3383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82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Duplicados (customer_unique_id)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46120"/>
            <a:ext cx="2194560" cy="33832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826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657600"/>
            <a:ext cx="2834640" cy="3383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941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Tasa premium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657600"/>
            <a:ext cx="2194560" cy="33832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6941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20.00%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069080"/>
            <a:ext cx="2834640" cy="3383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05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Granularidad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4069080"/>
            <a:ext cx="2194560" cy="33832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10565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customer_unique_id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B"/>
                </a:solidFill>
              </a:rPr>
              <a:t>Variables con mayor % nulos (raw):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7091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4A4A"/>
                </a:solidFill>
              </a:rPr>
              <a:t>•  avg_delivery_days: 9.24%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A4A"/>
                </a:solidFill>
              </a:rPr>
              <a:t>•  total_spent / avg_ticket: 9.24%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A4A"/>
                </a:solidFill>
              </a:rPr>
              <a:t>•  top_category: 8.54%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A4A"/>
                </a:solidFill>
              </a:rPr>
              <a:t>•  avg_review_score: 7.25%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1508760"/>
            <a:ext cx="5669280" cy="48920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572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ED6F1"/>
                </a:solidFill>
              </a:rPr>
              <a:t>Definicion del target is_premium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01168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Gasto acumulado de pedidos delivered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Umbral P80 calculado una sola vez sobre dev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Valor fijado: BRL 197.01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Persistido en premium_threshold_dev.json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Modos: fit (calcula) / apply (reutiliza)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Por que P80: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Segmento interpretable (~20% clientes)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20% premium = 56% de la facturacion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Equilibrio entre precision y amplitud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Por que umbral fijo: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Evita cambios por recalculo en cada corrida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Mantiene comparabilidad entre experimentos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— 18 Variables Nuevas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src/features/build_rfm_features.py — sin leakage del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2743200" cy="384048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Composicion de pedido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5681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97510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items_per_order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products_per_order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max_to_avg_price_ratio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572768"/>
            <a:ext cx="274320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195681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264" y="197510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freight_to_item_ratio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572768"/>
            <a:ext cx="2743200" cy="384048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Cuotas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195681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197510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installments_gt_1_flag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installments_gt_6_flag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1572768"/>
            <a:ext cx="2743200" cy="384048"/>
          </a:xfrm>
          <a:prstGeom prst="rect">
            <a:avLst/>
          </a:prstGeom>
          <a:solidFill>
            <a:srgbClr val="78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Metodo de pago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195681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97510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credit_card_flag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boleto_flag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voucher_flag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payment_complexity_flag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67328"/>
            <a:ext cx="27432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67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Logistica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5137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16966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has_late_delivery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has_cancellation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delivery_gap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3767328"/>
            <a:ext cx="2743200" cy="38404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2" y="3767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Experiencia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2112" y="415137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16966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reviews_per_order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3767328"/>
            <a:ext cx="27432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3767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Geografia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415137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3056" y="416966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region_group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far_region_flag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97696" y="3767328"/>
            <a:ext cx="2743200" cy="384048"/>
          </a:xfrm>
          <a:prstGeom prst="rect">
            <a:avLst/>
          </a:prstGeom>
          <a:solidFill>
            <a:srgbClr val="276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7696" y="3767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Categoria de producto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7696" y="4151376"/>
            <a:ext cx="27432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0848" y="4169664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top_category_group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4A4A"/>
                </a:solidFill>
              </a:rPr>
              <a:t>•  top_category_is_high_value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</a:rPr>
              <a:t>Nota: top_category_is_high_value se define por cuartil superior de avg_item_price por categoria (no tasa premium) para evitar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Seleccion Experimental de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8 experimentos comparados — split temporal 2018-07-01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3474720" cy="34747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72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Experimento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59" y="1572768"/>
            <a:ext cx="2194560" cy="34747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5727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39" y="1572768"/>
            <a:ext cx="1280160" cy="34747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9" y="15727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 Feat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19" y="1572768"/>
            <a:ext cx="1371600" cy="34747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572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AUC 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572768"/>
            <a:ext cx="1371600" cy="34747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572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Gini 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20240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568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initial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59" y="1920240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195681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initial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9" y="192024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39" y="19568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19" y="19202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19" y="195681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0.7939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9202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95681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0.5878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04288"/>
            <a:ext cx="347472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3408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missing_le_0.10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59" y="2304288"/>
            <a:ext cx="21945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59" y="234086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missing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39" y="2304288"/>
            <a:ext cx="12801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9" y="23408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19" y="2304288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19" y="234086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0.7939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2304288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234086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0.5878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88336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7249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corr_le_0.90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59" y="2688336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59" y="2724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correlation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39" y="268833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39" y="27249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29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19" y="268833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19" y="272491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0.7923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0" y="268833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272491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0.5846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072384"/>
            <a:ext cx="347472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108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corr_le_0.95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59" y="3072384"/>
            <a:ext cx="21945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59" y="31089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correlation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39" y="3072384"/>
            <a:ext cx="12801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39" y="31089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32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60919" y="3072384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19" y="310896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0.7922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78240" y="3072384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310896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0.5845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456432"/>
            <a:ext cx="347472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34930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corr_le_0.85  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94759" y="3456432"/>
            <a:ext cx="219456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4759" y="349300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correlation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39" y="3456432"/>
            <a:ext cx="128016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39" y="34930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0919" y="3456432"/>
            <a:ext cx="137160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60919" y="34930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0.7921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0" y="3456432"/>
            <a:ext cx="137160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34930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0.5843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840480"/>
            <a:ext cx="347472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38770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univariate_top_30%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94759" y="3840480"/>
            <a:ext cx="21945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94759" y="387705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univariate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39" y="3840480"/>
            <a:ext cx="12801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35039" y="38770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60919" y="3840480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60919" y="387705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0.7752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78240" y="3840480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0" y="387705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0.5503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224528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426110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univariate_top_20%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94759" y="4224528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94759" y="4261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univariate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35039" y="422452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35039" y="42611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60919" y="42245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60919" y="426110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0.7686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78240" y="42245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78240" y="426110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0.5372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608576"/>
            <a:ext cx="347472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46451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univariate_top_10%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94759" y="4608576"/>
            <a:ext cx="21945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94759" y="46451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univariate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35039" y="4608576"/>
            <a:ext cx="12801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35039" y="46451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60919" y="4608576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60919" y="464515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0.7430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78240" y="4608576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78240" y="464515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0.4860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515600" y="1508760"/>
            <a:ext cx="3383280" cy="48920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1560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ED6F1"/>
                </a:solidFill>
              </a:rPr>
              <a:t>Por que corr_le_0.85 ★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52760" y="201168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Menor AUC val que 'initial':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solo -0.0018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Reduce variables: 37 → 28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Elimina colinealidad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Mayor parsimonia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Mas defendible metodologicamente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Diferencia en AUC val minima,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no justifica 9 variables extra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</a:rPr>
              <a:t>Split: train (last_purchase &lt; 2018-07-01) = 83.589 | validation (&gt;= 2018-07-01) = 6.230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Evaluacion vs. Baseline Sprint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28 features | RandomForest | Cutoff temporal 2018-07-01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2103120" cy="178308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64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ED6F1"/>
                </a:solidFill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Baseline: 0.3000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3500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0.4766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59" y="2944368"/>
            <a:ext cx="1554479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59" y="2944368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+58.9%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572768"/>
            <a:ext cx="2103120" cy="178308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64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ED6F1"/>
                </a:solidFill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Baseline: 0.1600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3500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0.6294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2944368"/>
            <a:ext cx="1554479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2944368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+293%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79" y="1572768"/>
            <a:ext cx="2103120" cy="178308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79" y="1664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ED6F1"/>
                </a:solidFill>
              </a:rP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9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Baseline: 0.2100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23500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0.5424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799" y="2944368"/>
            <a:ext cx="1554479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799" y="2944368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+158%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199" y="1572768"/>
            <a:ext cx="2103120" cy="178308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9" y="1664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ED6F1"/>
                </a:solidFill>
              </a:rPr>
              <a:t>ROC-AUC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9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Baseline: 0.5355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23500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0.7929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19" y="2944368"/>
            <a:ext cx="1554479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944368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+48.1%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19" y="1572768"/>
            <a:ext cx="2103120" cy="178308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19" y="1664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ED6F1"/>
                </a:solidFill>
              </a:rPr>
              <a:t>Gini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19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Baseline: 0.0710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23500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0.5858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944368"/>
            <a:ext cx="1554479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2944368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+724%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520440"/>
            <a:ext cx="42062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5478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B"/>
                </a:solidFill>
              </a:rPr>
              <a:t>Matriz de confusion (validation)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31920"/>
            <a:ext cx="1371600" cy="62179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0233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3931920"/>
            <a:ext cx="1371600" cy="62179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83080" y="40233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Pred: Regular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3931920"/>
            <a:ext cx="1371600" cy="62179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40233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Pred: Premium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590288"/>
            <a:ext cx="1371600" cy="62179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68172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Real: Regular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83080" y="4590288"/>
            <a:ext cx="1371600" cy="6217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83080" y="468172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3.825  (TN)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4590288"/>
            <a:ext cx="1371600" cy="62179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0" y="468172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983  (FP)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248656"/>
            <a:ext cx="1371600" cy="621792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3400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Real: Premium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83080" y="5248656"/>
            <a:ext cx="1371600" cy="62179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83080" y="53400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527  (FN)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5248656"/>
            <a:ext cx="1371600" cy="6217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0" y="53400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895  (TP)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3520440"/>
            <a:ext cx="7132320" cy="2560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35661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ED6F1"/>
                </a:solidFill>
              </a:rPr>
              <a:t>Interpretacion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3977639"/>
            <a:ext cx="6949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El pipeline identifica correctamente al 62.9%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de los clientes premium (Recall)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La precision mejora de 30% → 47.7%: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menos falsas alarmas por cliente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ROC-AUC 0.7929: separabilidad real,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no solo umbral ajustado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Gini pasa de 0.071 a 0.586: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modelo significativamente mejor que aleatorio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KPIs de Negocio — Segmento Premium vs Regular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Sobre master table limpia | Umbral fijo P80 dev = BRL 197.01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651760" cy="1417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4591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19.220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Clientes premium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508760"/>
            <a:ext cx="2651760" cy="14173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64591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Tasa premium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508760"/>
            <a:ext cx="2651760" cy="1417320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64591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56.03%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Concentracion
facturacion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508760"/>
            <a:ext cx="2651760" cy="1417320"/>
          </a:xfrm>
          <a:prstGeom prst="rect">
            <a:avLst/>
          </a:prstGeom>
          <a:solidFill>
            <a:srgbClr val="78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64591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BRL 402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331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D6F1"/>
                </a:solidFill>
              </a:rPr>
              <a:t>Ticket prom.
premium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54680"/>
            <a:ext cx="539496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B"/>
                </a:solidFill>
              </a:rPr>
              <a:t>Comparacion Premium vs Regular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2286000" cy="36576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4845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611880"/>
            <a:ext cx="1371600" cy="36576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36484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611880"/>
            <a:ext cx="1371600" cy="36576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36484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Regular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77640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01421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Ordenes promedio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39776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401421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1.09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9776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401421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0.94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22860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37997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Lifetime prom. (dias)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4343400"/>
            <a:ext cx="1371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37997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7.26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343400"/>
            <a:ext cx="1371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437997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1.24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709160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7457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Max cuotas prom.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470916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80" y="474573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4.70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70916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474573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2.47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074920"/>
            <a:ext cx="22860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11149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Uso &gt; 1 cuota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5074920"/>
            <a:ext cx="1371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511149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71.55%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5074920"/>
            <a:ext cx="1371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0" y="511149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42.60%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440680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47725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Con entrega tardia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97480" y="544068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54772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9.28%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544068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0" y="54772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6.93%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06440"/>
            <a:ext cx="22860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84301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Recency prom. (dias)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97480" y="5806440"/>
            <a:ext cx="1371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584301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221.16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5806440"/>
            <a:ext cx="1371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0" y="584301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</a:rPr>
              <a:t>227.31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3154680"/>
            <a:ext cx="5897880" cy="310896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3200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ED6F1"/>
                </a:solidFill>
              </a:rPr>
              <a:t>Lectura de negocio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365760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20% de clientes = 56% de facturacion: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el target separa un segmento real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Ticket premium 4.36x el regular: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no es solo ruido estadistico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Mayor lifetime (5.9x) y uso de cuotas: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las features del sprint reflejan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el patron de negocio real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Facturacion premium: BRL 8.088.732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de un total de BRL 14.437.047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Defensa del Target y Control de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Decisiones metodologicas clave del Sprint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B"/>
                </a:solidFill>
              </a:rPr>
              <a:t>Por que P80 y umbral fijo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P80 → ~20% clientes = 56% facturacion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Ni demasiado amplio (P75) ni estrecho (P90)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Umbral fijo sobre dev = comparabilidad garantizada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Calculo: fit una vez, apply en corridas futuras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Por que excluir cancelaciones: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  • Target = valor efectivamente realizado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  • No intenciones de compra no concretadas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  • Reduccion de ambiguedad metodologica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5669280" cy="48920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ED6F1"/>
                </a:solidFill>
              </a:rPr>
              <a:t>Variables excluidas por leakage (13)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Reconstruyen directamente el target: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total_spent, avg_ticket, avg_order_price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Proxies monetarias cercanas al gasto: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avg_item_price, max_item_price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avg_freight_value, avg_freight_ratio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freight_to_item_ratio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Identificadores y fechas crudas: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customer_unique_id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first_purchase, last_purchase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  • customer_city, customer_zip_code_prefix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Entregables Formales — Estado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7 entregables planificados, todos completados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72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E1  Pipeline modular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92807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11095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build_master_table.py, build_rfm_features.py,
feature_selection_experiments.py, evaluate_model.py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7004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E2  Documentacion del flujo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9008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08376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documentacion_pipeline.md, dag_pipeline_sprint_2.md,
plan_implementacion_sprint_2.md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6732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E3  Features seleccionadas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8736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05656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05_features_rfm.parquet + 06_features_selected.parquet
28 features finales, leakage documentado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6460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864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E4  Metricas finales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8464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202936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08_evaluation_metrics.json + evaluation_vs_baseline.md
ROC-AUC 0.7929 | Gini 0.5858 | F1 0.5424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57276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1572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E5  KPIs finales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1892807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911095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20% premium | 56% facturacion | Ticket 4.36x
Consistentes con master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67004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E6  Target final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299008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008376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is_premium P80 dev = 197.01 BRL
Umbral congelado, leakage explicitado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3767328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E7  Apoyo exposicion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408736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105656"/>
            <a:ext cx="51663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02_pipeline_features.ipynb
Graficas, curva ROC, comparacion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1097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Conclusiones y Proximos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</a:rPr>
              <a:t>Sprint 2 completado — base solida para Sprint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MIADAS | Modulo 13 | Sprint 2 — Pipeline de Clasificacion de Clientes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577840" cy="489204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ED6F1"/>
                </a:solidFill>
              </a:rPr>
              <a:t>Conclusiones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Pipeline modular y reproducible: logica fuera
  del notebook, en scripts versionados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Target is_premium formalmente defendido:
  P80 fijo, gasto de pedidos delivered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28 features sin leakage, seleccionadas
  por experimentacion (no manual)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Mejora sustancial en todas las metricas:
  ROC-AUC 0.54 → 0.79 | Gini 0.07 → 0.59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Segmento economicamente valido:
  20% premium = 56% facturacion, ticket 4.36x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 9 fases completadas, 7 entregables entregados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57150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B"/>
                </a:solidFill>
              </a:rPr>
              <a:t>Sprint 3 — Proximos pasos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Ventanas temporales:
  separar ventana de observacion y outcome
  para prediccion temprana real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Modelado avanzado:
  gradient boosting / ensambles
  sobre las 28 features validadas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Valor economico:
  estimar CAC maximo recomendado
  por cliente premium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Validacion temporal:
  testar estabilidad de features
  con splits de fechas distintas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4A4A"/>
                </a:solidFill>
              </a:rPr>
              <a:t>•  Automatizacion:
  incorporar pipeline a orquestador
  (Airflow / Prefect)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16459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ED6F1"/>
                </a:solidFill>
              </a:rPr>
              <a:t>Sprint 2 completado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7830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Pipeline reproducible de clasificacion de clientes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D6F1"/>
                </a:solidFill>
              </a:rPr>
              <a:t>9 fases | 7 entregables | 28 features | ROC-AUC 0.7929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ED6F1"/>
                </a:solidFill>
              </a:rPr>
              <a:t>MIADAS — Modulo 13 — Scrum  |  Rama: sprint-2  |  Junio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206240"/>
            <a:ext cx="2560320" cy="13716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251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Sprint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ED6F1"/>
                </a:solidFill>
              </a:rPr>
              <a:t>explica el problema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9" y="4206240"/>
            <a:ext cx="2560320" cy="13716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4251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Sprint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ED6F1"/>
                </a:solidFill>
              </a:rPr>
              <a:t>deja el problema reproducible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4206240"/>
            <a:ext cx="2560320" cy="13716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4251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Sprint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ED6F1"/>
                </a:solidFill>
              </a:rPr>
              <a:t>predice el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